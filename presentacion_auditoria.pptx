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66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Auditoría del mensaje de comunicaciones de la Universidad Horizonte. Adelantamos el veredicto porque un auditor honesto no esconde su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clave del pie: la propia base advierte que no hay asignación aleatoria. Cualquier diferencia es asociación, no causalidad.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evidencia más fuerte del veredicto. No requiere modelo ni supuesto: es una comparación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importante: se puede engañar sin falsificar. Las cuatro decisiones de la derecha bastan para invertir la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hallazgo que sostiene todo el veredicto y el que hay que poder defender oralmente.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útil: si tomas a quienes peor les fue y les das un lápiz de la suerte, subirán. El lápiz no hizo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directo con la diapositiva de la Historia A. Mismo dato, distinta ventana.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enumerar: explicar. Cada hallazgo tiene su evidencia numérica ejecutable 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demuestra que entendimos la tesis de la tarea y no solo la aplicamos en una dirección.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la diferencia entre A y la versión final no es truncar o no truncar, es declararlo o esconderlo.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matiz final es importante: nuestro veredicto es sobre la suficiencia de la evidencia, no sobre la eficacia de la campaña.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resumen del libro: cada idea se usa para interpretar una decisión concreta de nuestro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el límite en vez de resolverlo por decreto. Si preguntan por la paradoja de Lord, ya está en 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piloto con asignación aleatoria es la acción proporcional: responde la pregunta en vez de darla por respondida.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6012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E082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UNA AFIRMACIÓN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base de datos,</a:t>
            </a:r>
            <a:endParaRPr lang="en-US" sz="50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 historias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9436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puede cambiar la historia cuando los datos son los mismos?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206240"/>
            <a:ext cx="2926080" cy="0"/>
          </a:xfrm>
          <a:prstGeom prst="line">
            <a:avLst/>
          </a:prstGeom>
          <a:noFill/>
          <a:ln w="19050">
            <a:solidFill>
              <a:srgbClr val="2E3F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con Datos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Parada  ·  narrador de datos y auditor de evidencia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Castro  ·  auditor visual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aplicada: Silver, N. (2012). The Signal and the Noise, caps. 1 y 2.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0" y="21945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30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PUBLICABLE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final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mensaje que auditamos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 comunicaciones propone publicar esta afirmación al cierre del semestre.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0232" cy="123444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268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 campaña transformó el desempeño estudiantil: aumentó la participación, mejoró las notas y redujo el abandono."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429000"/>
            <a:ext cx="475488" cy="475488"/>
          </a:xfrm>
          <a:prstGeom prst="ellipse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4381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Aumentó la participación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9436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 con alcance, clic y uso del servicio.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429000"/>
            <a:ext cx="475488" cy="475488"/>
          </a:xfrm>
          <a:prstGeom prst="ellipse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89120" y="3429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4381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Mejoró las notas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8912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 comparando promedios antes y después.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3429000"/>
            <a:ext cx="475488" cy="475488"/>
          </a:xfrm>
          <a:prstGeom prst="ellipse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183880" y="3429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34381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Redujo el abandono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18388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 con el porcentaje de abandono por grupo.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52120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promesas verificables. Las evaluamos una por una sobre 1.534 estudiantes en 12 programas.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3276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la fuente: 'Alta' y 'Baja' son niveles observados de exposición, no grupos asignados al azar.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mensaje frente a las cifras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ponderados por número de estudiantes · 1.534 estudiantes en 12 programas.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diferencia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cambio de nota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una escala de 0 a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389120" y="2194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61772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porcentuales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aprobación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80.20 % frente a 79.32 %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96596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183880" y="2194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41248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porcentuales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abandono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9319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6.25 % frente a 6.26 %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800600"/>
            <a:ext cx="11000232" cy="96012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14400" y="4800600"/>
            <a:ext cx="10360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"Redujo el abandono" no está exagerado: es incorrecto. La diferencia es de una centésima de punto porcentual.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9E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«La campaña funciona: los más expuestos mejoraron más del doble»</a:t>
            </a:r>
            <a:endParaRPr lang="en-US" sz="2600" dirty="0"/>
          </a:p>
        </p:txBody>
      </p:sp>
      <p:pic>
        <p:nvPicPr>
          <p:cNvPr id="5" name="Image 0" descr="s_histori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667512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simple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0" y="20208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ponderado por N: un grupo de 46 pesa igual que uno de 82.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truncados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7980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de satisfacción usa el 20 % central de la escala.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circular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35753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alto es la definición de exposición alta.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4 programas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43525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titula «en todos» mostrando solo 4 de 12.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50749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cifra fue inventada ni modificada. Toda la persuasión viene de decisiones de selección, escala y lenguaje.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" y="63276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Omisiones deliberadas: no aparece el abandono agregado ni la nota previa de cada grupo.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grupos nunca fueron comparables</a:t>
            </a:r>
            <a:endParaRPr lang="en-US" sz="3000" dirty="0"/>
          </a:p>
        </p:txBody>
      </p:sp>
      <p:pic>
        <p:nvPicPr>
          <p:cNvPr id="5" name="Image 0" descr="s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64008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78308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1B2A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60920" y="19202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de 12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543800" y="26974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donde el grupo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«Alta» partía más abajo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60920" y="3611880"/>
            <a:ext cx="4251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sola excepción.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exposición fuera independiente del nivel previo, la probabilidad de este patrón sería de 1 en 4.096.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ruido: es autoselección. La campaña llegó a quienes ya venían con peor desempeño, lo que invalida la comparación directa que sostiene el mensaje.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4360" y="63276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 de 8 · Es un conteo directo: no depende de ningún modelo ni supuesto estadístico.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a la media: el «efecto» que aparece solo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parte más abajo tiende a subir más, aunque no ocurra ninguna intervención.</a:t>
            </a:r>
            <a:endParaRPr lang="en-US" sz="1450" dirty="0"/>
          </a:p>
        </p:txBody>
      </p:sp>
      <p:pic>
        <p:nvPicPr>
          <p:cNvPr id="4" name="Image 0" descr="s_regre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6400800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−0.72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96112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conjunto de los 24 grupos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609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−0.88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6112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grupo de alta exposición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6092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−0.76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96112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grupo de baja exposición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60920" y="4160520"/>
            <a:ext cx="4251960" cy="1417320"/>
          </a:xfrm>
          <a:prstGeom prst="roundRect">
            <a:avLst>
              <a:gd name="adj" fmla="val 7742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589520" y="416052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aparece también dentro del grupo de baja exposición, donde no hay campaña que lo explique. Por lo tanto no puede atribuirse a la campaña.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94360" y="63276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controlar la línea base, la diferencia atribuible a la exposición cae de 0.079 a 0.065 puntos.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el eje completo, las diferencias casi desaparecen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tres indicadores del mensaje, sin truncar ninguna escala.</a:t>
            </a:r>
            <a:endParaRPr lang="en-US" sz="1450" dirty="0"/>
          </a:p>
        </p:txBody>
      </p:sp>
      <p:pic>
        <p:nvPicPr>
          <p:cNvPr id="4" name="Image 0" descr="s_ejecompl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600200"/>
            <a:ext cx="777240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029200"/>
            <a:ext cx="11000232" cy="1005840"/>
          </a:xfrm>
          <a:prstGeom prst="roundRect">
            <a:avLst>
              <a:gd name="adj" fmla="val 10909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14400" y="50292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A no falsificó nada: solo empezó los ejes donde le convenía. Es el mismo dato con otra ventana de observación.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Auditoría: ocho hallazgos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no comparables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167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12 con línea base desfavorable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208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a la media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167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−0.72, presente dentro de cada grupo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es un confusor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previa y aprobación: r = 0.939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circular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0.975 con la propia exposición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que esconden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361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programas van en dirección contraria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truncadas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4361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de 3.7 a 4.5 en una escala de 1 a 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favorable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458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afirma reducción de abandono inexistente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084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indebida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5458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concluye sobre toda la universidad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Historia B tampoco es neutral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el trabajo ajeno sin auditar el propio dejaría el argumento a medias.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19476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interesado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Ordenamos los programas para que Economía quedara en la posición de mayor impacto visual.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675120" y="19476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selectivo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3134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barras negativas van en rojo; las positivas quedan en gris neutro.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máximo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«nunca fueron comparables» cuando una redacción más templada sería igual de precisa.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675120" y="35478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Omisión propia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39136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mostramos que la satisfacción sí mejora de forma consistente en los 12 programas.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2120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visualización es neutral. La versión final no es «objetiva»: es la que declara sus decisiones y sus límites.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C6FA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FINAL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«Participación y satisfacción altas. El efecto sobre el desempeño académico no puede establecerse con estos datos.»</a:t>
            </a:r>
            <a:endParaRPr lang="en-US" sz="2300" dirty="0"/>
          </a:p>
        </p:txBody>
      </p:sp>
      <p:pic>
        <p:nvPicPr>
          <p:cNvPr id="5" name="Image 0" descr="s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667512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completos, o acercamiento etiquetado como tal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la línea base desigual, no se esconde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reportan los tres indicadores, incluidos los que no favorecen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distingue observación de interpretación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49377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Acercarse a los datos no está prohibido. Lo que hay que hacer es declararlo.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632764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derecho recorta el eje a propósito y lo advierte de forma explícita en el título.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puede afirmarse y qué no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debe ser proporcional a la evidencia disponible.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274320" cy="274320"/>
          </a:xfrm>
          <a:prstGeom prst="ellipse">
            <a:avLst/>
          </a:prstGeom>
          <a:solidFill>
            <a:srgbClr val="2C6FA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252728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muestran los datos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servicio: 60.3 % frente a 43.8 %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Satisfacción: 4.35 frente a 3.91 sobre 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grupos subieron su promedio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663440" y="19659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47488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puede afirmarse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campaña causó la mejora académica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redujo el abandono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efecto es igual en todos los programas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6916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458200" y="1965960"/>
            <a:ext cx="274320" cy="274320"/>
          </a:xfrm>
          <a:prstGeom prst="ellipse">
            <a:avLst/>
          </a:prstGeom>
          <a:solidFill>
            <a:srgbClr val="E082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842248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haría falta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58200" y="24688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aleatoria o control comparable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por estudiante, no promedios de grupo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periodos para separar tendencia de efecto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4864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evidencia suficiente no es evidencia de ausencia: no demostramos que la campaña no sirviera.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aplicado al caso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de los capítulos 1 y 2, usadas para interpretar decisiones concretas.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supuesto invisible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calificó AAA instrumentos con 28 % de impago tras predecir 0.12 %. El error no fue aritmético: fue asumir que los impagos eran independientes.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el supuesto oculto es que los grupos eran comparables. No lo eran.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muestra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7249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Moody's modeló con datos de un periodo en que los precios solo subieron. Silver: 20.000 viajes sobrio no dicen nada sobre conducir ebrio.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44348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muestra no contiene la condición «sin campaña, mismo nivel previo».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458200" y="2011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5820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erizo y el zorro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7249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Tetlock: el 15 % de lo que los expertos declaraban imposible ocurrió. Los erizos empeoran al acumular información porque encuentran más formas de confirmarse.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44348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ocho columnas fue fácil hallar la combinación que confirmaba el relato deseado.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de nuestra propia auditoría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auditamos nuestro método.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00232" cy="123444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 matemático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856232"/>
            <a:ext cx="7086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Regresamos el cambio contra la nota previa, pero la nota previa aparece en ambos lados de la ecuación. Con promedios de grupo no podemos estimar la magnitud de ese sesgo, y tampoco suponerla nula. El coeficiente de −0.229 es un indicio, no una estimación precisa.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11000232" cy="123444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Falacia ecológica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3273552"/>
            <a:ext cx="7086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con 24 promedios de grupo, no con 1.534 estudiantes. Lo que se cumple entre promedios no necesariamente se cumple entre individuos.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526280"/>
            <a:ext cx="11000232" cy="123444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14400" y="4690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dispersión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4690872"/>
            <a:ext cx="7086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individuales no hay desviaciones ni intervalos de confianza. “</a:t>
            </a:r>
            <a:r>
              <a:rPr lang="en-US" sz="1250" dirty="0" err="1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</a:t>
            </a:r>
            <a:r>
              <a:rPr lang="en-US" sz="1250" dirty="0">
                <a:solidFill>
                  <a:srgbClr val="2E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se refiere a la magnitud sobre la escala, no a significancia estadística.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veredicto se sostiene sobre dos conteos directos —6.25 % frente a 6.26 %, y 12 de 12— que no dependen de ningún modelo.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kern="0" spc="200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PUBLICABLE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94360" y="2514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«publicable con cambios»: el problema no es de redacción. Una de las tres afirmaciones es falsa en los propios datos de la universidad, y las otras dos descansan sobre una comparación inválida.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61188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decisiva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de 6.25 % frente a 6.26 %, y línea base desfavorable en los 12 programas.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361188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2E3F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3796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42062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mensaje acotado y ejecutar un piloto con asignación aleatoria en dos o tres programas.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Silver, N. (2012). The Signal and the Noise. Penguin Press, caps. 1 y 2.  ·  Universidad Horizonte (2026), base de resultados de la campaña.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1768</Words>
  <Application>Microsoft Office PowerPoint</Application>
  <PresentationFormat>Panorámica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Santiago Parada Rocha</cp:lastModifiedBy>
  <cp:revision>2</cp:revision>
  <dcterms:created xsi:type="dcterms:W3CDTF">2026-08-17T22:05:15Z</dcterms:created>
  <dcterms:modified xsi:type="dcterms:W3CDTF">2026-08-17T22:21:59Z</dcterms:modified>
</cp:coreProperties>
</file>